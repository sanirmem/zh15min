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ZHAW · FS 2026 · Einsatz von Geodaten in Marketing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15-Minute City Intelligence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Geo-Algorithmus zur Bewertung von Standortqualität und Identifikation von Versorgungslücken in Zürich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3291840"/>
            <a:ext cx="1280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520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Gruppe: </a:t>
            </a:r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Mitglied 1 · Mitglied 2 · Mitglied 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Modul: </a:t>
            </a:r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Einsatz von Geodaten in Marketing — Dr. Mario Gellrich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Datum: </a:t>
            </a:r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 2026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OpenStreetMap-Mitwirkende · Stadt Zürich Open Data · BFS · swisstopo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Inhaltsverzeichnis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7280" y="153619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Übersicht &amp; Workflow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203911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Einleitung — Hintergrund, Forschungsfrage, Hypothesen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56032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7280" y="254203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Methodik — Daten, Tools, Vorgehen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06324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97280" y="304495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Ergebnisse — Score, Hypothesen-Test, Versorgungslücken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356616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97280" y="354787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 &amp; Schlussfolgerungen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406908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97280" y="405079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Limitationen &amp; Ausblick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Pflicht-Struktur gemäss Modulvorgaben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ÜBERSICHT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 vom Datensatz bis zur Karte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5544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55448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1907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719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51560" y="1719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 · BFS STATPOP · Stadt Zürich Open Data · swisstopo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9272" y="15544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19272" y="155448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56432" y="171907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719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959352" y="1719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PostGIS-Import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56432" y="22402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osm2pgsql + GeoPandas → Schema zh15min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27064" y="15544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27064" y="155448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64224" y="171907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64224" y="1719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67144" y="1719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Hex-Gitter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64224" y="22402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m Apothem → 744 Analyse-Zellen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1480" y="324612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11480" y="32461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4107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34107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Erreichbarkeit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Walking-Isochronen + Huff-Distance-Decay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19272" y="324612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319272" y="32461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56432" y="34107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56432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959352" y="34107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 (0–100)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456432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gewichtete Komponenten je Zelle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27064" y="324612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227064" y="32461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4224" y="34107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64224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867144" y="34107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Visualisierung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364224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Folium · Matplotlib · QGIS-3D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Werkzeuge: Python · GeoPandas · OSMnx · PostGIS · QGIS 3.40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EINLEITUNG · 1/4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Hintergrund &amp; Motivation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</a:t>
            </a:r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15-Minuten-Stadt</a:t>
            </a:r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(Moreno 2021) ist heute Leitbild moderner Stadtplanung — und wird zunehmend zum </a:t>
            </a:r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harten Wertfaktor</a:t>
            </a:r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für Immobilien und Einzelhandel.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6974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2697480"/>
            <a:ext cx="260604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7889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 min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2179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Schwellwert: Funktionen des täglichen Lebens fussläufig erreichbar (Moreno 2021)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26974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2697480"/>
            <a:ext cx="260604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6120" y="27889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1.2 km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24612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1071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Modellparameter d_max — 15 min Fussweg bei 5 km/h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35040" y="26974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2697480"/>
            <a:ext cx="260604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27889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44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603504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9963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Quartiere in Zürich mit gültigem Score (Range 8 – 93)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EINLEITUNG · 2/4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Zielsetzung &amp; Forschungsfrage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554480"/>
            <a:ext cx="411480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554480"/>
            <a:ext cx="41148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783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Zielsetzung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224028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Entwicklung eines automatisierten, reproduzierbaren Geo-Algorithmus, der die Erreichbarkeit der wichtigsten Funktionen des täglichen Lebens für jeden Punkt in Zürich quantifiziert — als Grundlage für Stadtplanung und Immobilien-Bewertung.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617720" y="1554480"/>
            <a:ext cx="411480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17720" y="1554480"/>
            <a:ext cx="41148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1783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Forschungsfrage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800600" y="224028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welchen Quartieren Zürichs klaffen die grössten Lücken zwischen Wohnungsdichte und täglicher Infrastruktur (Einkauf, Bildung, Gesundheit, Erholung, ÖV)?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EINLEITUNG · 3/4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Zwei testbare Hypothesen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8229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82296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810512"/>
            <a:ext cx="777240" cy="77724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81051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554480" y="173736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 korreliert mit Zentralität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54480" y="21031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Quartiere mit grösserer Distanz zum Hauptbahnhof haben einen niedrigeren 15-Min-Score — zentrale Lage bedeutet bessere Erreichbarkeit.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554480" y="2514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Pearson- &amp; Spearman-Korrelation Score × Distanz HB (n = 44 Quartiere)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971800"/>
            <a:ext cx="8229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971800"/>
            <a:ext cx="822960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227832"/>
            <a:ext cx="777240" cy="777240"/>
          </a:xfrm>
          <a:prstGeom prst="ellipse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22783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554480" y="31546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Peripherie-Effekt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54480" y="35204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gibt Quartiere mit überwiegender Wohnnutzung in der Peripherie, deren Score im untersten Quartil liegt — strukturelle Versorgungslücken.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554480" y="39319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Identifikation der Flop-Quartiere &amp; qualitative Lage-Analyse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1/4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 — sieben Quellen, ein Modell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65760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Quelle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Verwendung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Lizenz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OpenStreetMap (OSMnx)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 (6 Kategorien), Stadtgrenze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Geofabrik PBF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vollständiges OSM (Schweiz, optional)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Walking-Graph (OSMnx)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Strassennetz für Isochronen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OSM admin_level=10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Quartier-Polygone (44 mit Score)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HB Zürich (LV95-Punkt)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Distanz-Referenz für H1-Test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/ GeoAdmin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Hintergrundkarten (Folium-Tiles)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Terms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BFS STATPOP / Mietpreis-Idx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geplant — siehe Limitationen (Slide 15)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Details: docs/data_sources.md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2/4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Tools &amp; Methoden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642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 · GeoPandas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Datenaufbereitung, Geo-Operationen, Score-Berechnung.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155448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6642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OSMnx + NetworkX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846320" y="1965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Walking-Graph laden, Isochronen via ego_graph (gewichtete Gehzeit).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5146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51460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24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PostGIS 3.4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0080" y="2926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Zentrale Speicherung, räumliche SQL-Joins, Indizes (GIST).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25146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251460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2624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osm2pgsql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846320" y="2926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Vollständiger Import des CH-PBF in planet_osm_*-Tabellen.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47472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5844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scipy.spatial.cKDTree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886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Distanz-Lookup für Score: O((n+m)·log n) statt O(n·m).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63440" y="347472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347472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35844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QGIS 3.40 LTR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4846320" y="3886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3D-Visualisierung (Score als Höhe), Print-Layout, Live-Demo.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3/4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 15-Minute-City-Score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82296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Erreichbarkeit pro Kategorie c und Hex-Zelle z: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A_c(z) = Σ exp(−β · d(z,p) / d_max)   für alle POIs p mit d ≤ d_max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Score(z) = 100 · Σ_c  w_c · A_c(z)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480560" y="248716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= 1.5    ·    d_max = 1 200 m  (≈ 15 min Fussweg)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291840"/>
            <a:ext cx="1280160" cy="10058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Einkauf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22 %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1874520" y="3291840"/>
            <a:ext cx="1280160" cy="10058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7452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Bildung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87452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3291840" y="3291840"/>
            <a:ext cx="1280160" cy="10058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Gesundheit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29184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18 %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709160" y="3291840"/>
            <a:ext cx="1280160" cy="10058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916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Erholung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70916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14 %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126480" y="3291840"/>
            <a:ext cx="1280160" cy="1005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2648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Gastro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12648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10 %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7543800" y="3291840"/>
            <a:ext cx="1280160" cy="10058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4380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ÖV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54380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18 %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Gewichte angelehnt an Moreno et al. (2021) · alle Parameter in src/zh15min/config.py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4/4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— sieben Notebooks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8229600" cy="5486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920240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192024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Stadtgrenze + POIs aus OSM laden (OSMnx)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2304288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304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60120" y="230428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Walking-Graph + Quartier-Polygone (OSM admin_level=10)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2688336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60120" y="2688336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in PostGIS (Schema zh15min) importieren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3072384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0723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" y="3072384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Demo-Isochronen + Hex-Gitter (200 m Apothem)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456432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456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345643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Score-Berechnung (KDTree-beschleunigt)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3840480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60120" y="384048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Hypothesen-Test (Score × Distanz HB) + Versorgungslücken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2920" y="4224528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4224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60120" y="422452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Folium-Karte + Slide-Figuren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Reproduzierbar via docker compose up -d  &amp;  jupyter lab notebooks/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1/3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Score-Karte — Erreichbarkeit Zürich</a:t>
            </a:r>
            <a:endParaRPr lang="en-US" sz="3000" dirty="0"/>
          </a:p>
        </p:txBody>
      </p:sp>
      <p:pic>
        <p:nvPicPr>
          <p:cNvPr id="4" name="Image 0" descr="/sessions/intelligent-practical-clarke/mnt/Einsatz von Geodaten in Marketing/reports/figures/score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63040"/>
            <a:ext cx="4754880" cy="3108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40680" y="1463040"/>
            <a:ext cx="324612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40680" y="1463040"/>
            <a:ext cx="324612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23560" y="16276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die Karte zeigt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623560" y="205740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Höchste Werte (&gt; 85)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City, Langstrasse, Altstadt — kompakte Kern-Innenstadt mit dichter Funktionsmischung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Mittelfeld (30 – 60)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Wiedikon, Höngg — Wohnviertel mit guter ÖV-Anbindung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D73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Niedrigste Werte (&lt; 20)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Leimbach, Witikon, Hirzenbach — Stadtperipherie, dünne Versorgung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in [0, 100] · Quantil-Klassifikation (k=7) · RdYlGn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2/3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Hypothesen-Test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1148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41148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 — Score ↔ Zentralität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24028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ρ = −0.64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Spearman, n = 44, p &lt; 10⁻⁵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29184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Stützt H1 hochsignifikant: je weiter ein Quartier vom Hauptbahnhof entfernt liegt, desto niedriger der 15-Min-Score. Pearson r = −0.61 mit p = 9.2 × 10⁻⁶ bestätigt das Bild.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17720" y="1508760"/>
            <a:ext cx="41148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1508760"/>
            <a:ext cx="411480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1691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 — Peripherie-Effekt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224028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Quartiere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4617720" y="28346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&lt; 20 — alle in der Peripherie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00600" y="329184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 bestätigt: Leimbach, Witikon, Hirzenbach, Hottingen und Friesenberg — alle peripher gelegene Quartiere mit überwiegender Wohnnutzung, Score zwischen 8 und 17.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Werte aus 06_gap_analysis.ipynb · Live-Reproduzierbar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3/3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Top- &amp; Flop-Quartiere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1148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4114800" cy="54864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 5 Quartiere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157984"/>
            <a:ext cx="212598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83380" y="210312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93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5146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Langstrasse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0" y="2569464"/>
            <a:ext cx="212598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83380" y="25146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29260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Altstadt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011680" y="2980944"/>
            <a:ext cx="210312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60520" y="292608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333756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Gewerbeschule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011680" y="3392424"/>
            <a:ext cx="201168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69080" y="333756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88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37490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Kreis 4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011680" y="3803904"/>
            <a:ext cx="194310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00500" y="374904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85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17720" y="1508760"/>
            <a:ext cx="41148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17720" y="1508760"/>
            <a:ext cx="411480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Flop 5 Quartiere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800600" y="21031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Leimbach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72200" y="2157984"/>
            <a:ext cx="18288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210312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00600" y="25146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Witikon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72200" y="2569464"/>
            <a:ext cx="25146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69380" y="25146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00600" y="29260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Hirzenbach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172200" y="2980944"/>
            <a:ext cx="36576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0" y="292608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00600" y="333756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Hottingen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72200" y="3392424"/>
            <a:ext cx="38862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06540" y="333756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17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800600" y="37490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Friesenberg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172200" y="3803904"/>
            <a:ext cx="38862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06540" y="374904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17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Score-Mittelwert je Quartier · Gesamt-Range 8 – 93 · n = 44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DISKUSSION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Antwort auf die Forschungsfrage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82296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grössten Lücken zwischen Wohnen und täglicher Infrastruktur 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liegen in der Stadtperipherie</a:t>
            </a:r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(Leimbach, Witikon, Hirzenbach, Hottingen, Friesenberg) — über 70 Score-Punkte Abstand zum Zentrum. Die Korrelation Score × Distanz zum HB beträgt </a:t>
            </a:r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 = −0.64 (p &lt; 10⁻⁵)</a:t>
            </a:r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Zentralität ist der dominante Treiber.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97180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971800"/>
            <a:ext cx="26060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Stadtplanung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45643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Versorgungs-Auflagen für Entwicklungsgebiete vor der Erstvermietung.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46120" y="297180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46120" y="2971800"/>
            <a:ext cx="26060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Investoren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29000" y="345643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Lagen mit Score &lt; 40 sind preislich Chance, bergen aber Vermarktungsrisiko.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297180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2971800"/>
            <a:ext cx="26060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Einzelhandel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17920" y="345643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Wüsten-Quartiere = priorisierte Standorte für Nahversorger-Expansion.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SCHLUSS · 1/2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Limitationen unseres Modells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190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Datenqualität OSM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Kleine, unmappte Geschäfte fehlen. Annahme: Verzerrung gering, weil Geschäfte ähnlicher Klassifikation OSM-mässig konsistent sind.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155448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7190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Mietpreis-Validierung offen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21031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Stadt-Zürich-Mietpreis-Datensatz war zum Auswertungszeitpunkt unter dokumentierter URL nicht erreichbar (HTTP 404) — H1 wurde via Distanz zum HB validiert.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06324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306324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2278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STATPOP nicht eingebunden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6118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BFS-Hektar-Bevölkerungsraster ist nur per manuellem Download verfügbar; Bevölkerungsdichte als zusätzliche Validierung steht aus.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306324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306324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32278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Luftlinien-Approximation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46320" y="36118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nutzt KDTree-Distanz, nicht echte Strassengraph-Wege. Validierung über OSMnx-Demo-Isochronen (Notebook 04).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SCHLUSS · 2/2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Ausblick &amp; take-away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17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14173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Echtzeit-Mobilitätsdaten — SBB GTFS, ZVV-Reisezeiten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18745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Sentiment-Scores aus TripAdvisor / Google Reviews je POI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3317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331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23317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Dynamisches Re-Scoring bei neuem POI (QGIS-Live-Demo)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27889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27889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Erweiterung auf Winterthur, Basel — nationaler Vergleich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657600"/>
            <a:ext cx="1280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Vielen Dank — Fragen &amp; Diskussion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· github.com/&lt;gruppe&gt;/zh15min   ·   Live-Demo: docker compose up -d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OpenStreetMap-Mitwirkende · Stadt Zürich · BFS · swisstopo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15-Minute City Intelligence — Zürich</dc:title>
  <dc:subject>PptxGenJS Presentation</dc:subject>
  <dc:creator>Gruppe 15-Min City Intelligence — ZHAW FS2026</dc:creator>
  <cp:lastModifiedBy>Gruppe 15-Min City Intelligence — ZHAW FS2026</cp:lastModifiedBy>
  <cp:revision>1</cp:revision>
  <dcterms:created xsi:type="dcterms:W3CDTF">2026-04-29T00:15:24Z</dcterms:created>
  <dcterms:modified xsi:type="dcterms:W3CDTF">2026-04-29T00:15:24Z</dcterms:modified>
</cp:coreProperties>
</file>