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 1 · Mitglied 2 · Mitglied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heute Leitbild moderner Stadtplanung — und wird zunehmend zum 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harten Wertfaktor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 / 34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Stadt-Zürich-Quartiere mit Score (Range 9 – 92)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Zwei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10512"/>
            <a:ext cx="777240" cy="7772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105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54480" y="17373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korreliert mit Zentralität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103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Distanz zum Hauptbahnhof haben einen niedrigeren 15-Min-Score — zentrale Lage bedeutet bessere Erreichbarkeit.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514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Pearson- &amp; Spearman-Korrelation Score × Distanz HB (n = 34 Quartiere)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9718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27832"/>
            <a:ext cx="777240" cy="77724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3154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Wüsteneffekt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520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hoher Bevölkerungsdichte und niedrigem Score — strukturelle Versorgungs-Wüsten.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Schwellenwert-Test: Dichte &gt; P75 UND Score-P25 ≤ P25 (BFS STATPOP 2024)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sieben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OSM admin_level=10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Quartier-Polygone (44 mit Score)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Open-Elevation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 für Robustness Check (Confounder)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/ GeoAdmin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 + NetworkX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laden, Isochronen via ego_graph (gewichtete Gehzeit).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Indizes (GIST).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osm2pgsql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Import des CH-PBF in planet_osm_*-Tabellen.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O((n+m)·log n) statt O(n·m).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QGIS 3.40 LTR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3D-Visualisierung (Score als Höhe), Print-Layout, Live-Demo.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sieben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92024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920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30428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04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30428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Quartier-Polygone (OSM admin_level=10)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68833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68833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07238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307238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4564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4564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8404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8404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(Score × Distanz HB) + Versorgungslücken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42245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42245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90)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Lindenhof, Werd, Rathaus, City — Kern-Innenstadt mit maximaler Funktionsmischung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(30 – 60)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Sihlfeld, Wipkingen, Enge — Wohnviertel mit guter ÖV-Anbindung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Hirzenbach, Affoltern — Stadtperipherie und Hangwohnen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3D-Skyline — Score als Höhe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qgis_3d_s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3D-Karte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= Score ×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Innenstadt-Quartiere ragen wie Wolkenkratzer (Score 90+)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 = RdYlGn-Verlauf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 = hohe Erreichbarkeit, Rot = niedrige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 via PostGIS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3.44 + PostGIS-Verbindung — neue POIs lassen sich live einsetzen, der Score reagiert dynamisch.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QGIS-Projektdatei: qgis/zh15min.qgz · PostGIS-Quelle: zh15min.score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Topografische Erweiterung — flach vs. real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flat_vs_top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512064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383280"/>
            <a:ext cx="51206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3383280"/>
            <a:ext cx="512064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Top-Verlierer (Δ Score)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Oberstrass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−13.8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Fluntern  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−11.2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Alt-Wiedikon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Wipkingen   </a:t>
            </a:r>
            <a:pPr indent="0" marL="0">
              <a:buNone/>
            </a:pPr>
            <a:r>
              <a:rPr lang="en-US" sz="100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718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Top-Gewinner (Δ Score)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97180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Mühlebach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Seefeld 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+6.3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Oerlikon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Werd        </a:t>
            </a:r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669280" y="1417320"/>
            <a:ext cx="31089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0" y="1417320"/>
            <a:ext cx="31089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216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ändert sich?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852160" y="196596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Tobler-Hiking-Funktion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Walking-Tempo abhängig von Steigung pro Edge — bergauf langsamer, bergab schneller.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 2 m DEM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pro Knoten · Steigung pro Kante · 124 swisstopo-Kacheln.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Plausibilität bestätigt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Verlierer = Hangzonen (Zürichberg, Käferberg, Üetliberg). Gewinner = flache See-Quartiere.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Δ = −2.3, Range [−33, +19].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 · SwissALTI3D · Notebook 06b · 744 Hex × 8092 POIs · Dijkstra-Cutoff 15 min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4/6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Zentralität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−0.81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 = 34, p &lt; 10⁻⁸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 hochsignifikant: je weiter vom HB, desto niedriger der Score. Pearson r = −0.84 mit p &lt; 10⁻⁹. Zusatz-Test mit Stadt-Zürich-Mietpreisen 2024 ist jetzt ebenfalls signifikant (ρ = +0.56, p &lt; 0.001) — Konvergenz beider Validierungen.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Wüsteneffekt widerlegt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240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34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1772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Dichte &gt; P75 UND Score-P25 ≤ P25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060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Quantitativer Test mit STATPOP-Bevölkerungsdichte: kein Quartier erfüllt beide Schwellen. Zürichs Stadtstruktur ist konsistent — keine US-typischen 'food deserts'. Periphere Quartiere haben tiefen Score (5 mit &lt; 20), aber dort wohnen auch wenige Menschen.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Live-Reproduzierbar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5/6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Rathaus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376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376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2057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366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2860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226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Affoltern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22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22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9 – 92 · n = 34 (alle offiziellen Quartiere)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6/6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Quartier-Typologie via K-Means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der 28 Quartiere auf den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Kategorie-Erreichbarkeiten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(statt nur Total-Score) ergibt eine vier-typische Zürcher Quartier-Landschaft: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057400"/>
            <a:ext cx="402336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Zentrale Mischung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70332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90  ·  n =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 · Werd · Rathaus · Langstrasse · City · Hochschulen · Gewerbeschule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sechs Funktionen in Walking-Distanz.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57400"/>
            <a:ext cx="40233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Mittelband mit ÖV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0956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59  ·  n = 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 · Hard · Oerlikon · Alt-Wiedikon · Unterstrass · Mühlebach · Escher Wyss · Enge · Wipkingen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Wohnviertel mit guter Tram-/Bus-Anbindung.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Stadtnord-Rand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70332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29  ·  n =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Saatlen · Seebach · Schwamendingen-Mitte · Friesenberg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Erholung-positiv, alle anderen Funktionen tief.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3832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Periphere Wohnviertel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0956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23  ·  n = 14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 · Witikon · Leimbach · Affoltern · Hirzenbach · u. 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Funktionen unterdurchschnittlich.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 auf 6 standardisierten Kategorie-Accessibilities · sklearn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Affoltern, Friesenberg) — über 80 Score-Punkte Abstand zum Zentrum. Die Korrelation Score × Distanz zum HB beträgt </a:t>
            </a:r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−0.81 (p &lt; 10⁻⁸)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 Multi-Variate-Modell erklärt 86 % der Score-Varianz.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H1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34, R² = 0.86)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7180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9160" y="20574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−9.28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4048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&lt;10⁻⁵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09160" y="24231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(approx)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0312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−0.04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7180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0.640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09160" y="28072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n.s.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0312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97180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048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&lt;10⁻⁵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09160" y="31912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hochsignifikant nach Kontrolle.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ist Co-Treiber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Höher = niedrigerer Score (β = −0.10).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Gewichts-robust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&gt; 0.98 in allen Szenarien.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Distanz-Approximation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Luftlinie vs. Strassennetz: r = 0.988.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Topografie-Approximation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Open-Elevation-API zum Auswertungszeitpunkt down — Höhen via N-Koordinaten approximiert. Mit DEM-Daten von swisstopo wäre der Höhen-Confounder belastbarer testbar.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Single-City-Befund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H2-Falsifikation (keine Wüsten) gilt für Zürich; die 15-Min-Stadt-Methodik ist nicht stadt-spezifisch und sollte für externe Validität auf weitere Städte angewendet werden.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Mietpreis-Confounder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Premium-Wohnlagen wie Hottingen, Seefeld zeigen hohe Mieten trotz niedrigerer Score-Werte — andere Form von Lagequalität (ruhig, grün) als unsere fussläufige Mischnutzungs-Definition.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(QGIS-Live-Demo)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— Fragen &amp; Diskussion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github.com/&lt;gruppe&gt;/zh15min   ·   Live-Demo: docker compose up -d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Gruppe 15-Min City Intelligence — ZHAW FS2026</cp:lastModifiedBy>
  <cp:revision>1</cp:revision>
  <dcterms:created xsi:type="dcterms:W3CDTF">2026-05-07T22:17:51Z</dcterms:created>
  <dcterms:modified xsi:type="dcterms:W3CDTF">2026-05-07T22:17:51Z</dcterms:modified>
</cp:coreProperties>
</file>