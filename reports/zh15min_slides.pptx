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ZHAW · FS 2026 · Einsatz von Geodaten in Marketing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15-Minute City Intelligence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Geo-Algorithmus zur Bewertung von Standortqualität und Identifikation von Versorgungslücken in Zürich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Memis Sanir · Andrea Callegari · Ioannis Organtzidis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Einsatz von Geodaten in Marketing — Dr. Mario Gellrich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Open Data · BFS · swisstopo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Inhaltsverzeichnis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5361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 &amp; Workflow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3911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Einleitung — Hintergrund, Forschungsfrage, Hypothesen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54203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 — Daten, Tools, Vorgehen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304495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 — Score, Hypothesen-Test, Versorgungslücken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35478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&amp; Schlussfolgerungen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40507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Limitationen &amp; Ausblick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Pflicht-Struktur gemäss Modulvorgaben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ÜBERSICHT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vom Datensatz bis zur Karte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· BFS STATPOP · Stadt Zürich Open Data · swisstopo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9272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56432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59352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PostGIS-Import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56432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osm2pgsql + GeoPandas → Schema zh15min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27064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27064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64224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67144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Hex-Gitter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64224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 Apothem → 744 Analyse-Zellen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1480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Erreichbarkeit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Walking-Isochronen + Huff-Distance-Decay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9272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319272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56432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(0–100)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456432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gewichtete Komponenten je Zelle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27064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27064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4224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64224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67144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Visualisierung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64224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· Matplotlib · QGIS-3D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Werkzeuge: Python · GeoPandas · OSMnx · PostGIS · QGIS 3.40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Hintergrund &amp; Motivation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</a:t>
            </a:r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15-Minuten-Stadt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(Moreno 2021) ist heute Leitbild moderner Stadtplanung — und wird zunehmend zum </a:t>
            </a:r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harten Wertfaktor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Immobilien und Einzelhandel.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min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Schwellwert: Funktionen des täglichen Lebens fussläufig erreichbar (Moreno 2021)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 km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24612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071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Modellparameter d_max — 15 min Fussweg bei 5 km/h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 / 34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03504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9963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offizielle Stadt-Zürich-Quartiere mit Score (Range 9 – 92)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 &amp;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41148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 eines automatisierten, reproduzierbaren Geo-Algorithmus, der die Erreichbarkeit der wichtigsten Funktionen des täglichen Lebens für jeden Punkt in Zürich quantifiziert — als Grundlage für Stadtplanung und Immobilien-Bewertung.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1772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55448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Forschungsfrage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060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welchen Quartieren Zürichs klaffen die grössten Lücken zwischen Wohnungsdichte und täglicher Infrastruktur (Einkauf, Bildung, Gesundheit, Erholung, ÖV)?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Drei testbare Hypothesen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6304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27632"/>
            <a:ext cx="685800" cy="6858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276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59105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↔ Mietpreis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186537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höherem 15-Min-Score haben höhere Median-Mietpreise — Erreichbarkeit übersetzt sich in Standortwert.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463040" y="221284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 + Spearman Score × Median-Mietpreis (Stadt Zürich Open Data, n = 34)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560320"/>
            <a:ext cx="82296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724912"/>
            <a:ext cx="685800" cy="6858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249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268833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Zentralitäts-Robustness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296265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grösserer HB-Distanz haben einen niedrigeren Score — methodisch sauberer Proxy ohne Marktdaten-Confounder.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463040" y="331012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 + Spearman Score × Distanz HB (LV95-Centroide, n = 34)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657600"/>
            <a:ext cx="82296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822192"/>
            <a:ext cx="685800" cy="68580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8221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378561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Wüsteneffekt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405993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Quartiere mit hoher Bevölkerungsdichte und niedrigem Score — strukturelle Versorgungs-Wüsten.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463040" y="440740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Schwellenwert-Test: Dichte &gt; P75 UND Score-P25 ≤ P25 (BFS STATPOP 2023)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 — acht Quellen, ein Modell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65760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Verwendung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Lizenz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OpenStreetMap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(6 Kategorien), Stadtgrenze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Geofabrik PBF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vollständiges OSM (Schweiz, optional)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Walking-Graph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Strassennetz für Isochronen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STATPOP 2023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Bevölkerungsdichte (Hektar-Raster)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Data BFS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Stadt Zürich Open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offizielle Quartiere + Mietpreis-Index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BY 4.0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SwissALTI3D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Höhenmodell 2 m für Tobler-Erweiterung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OGD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TileMap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Hintergrundkarten (Folium-Tiles)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Terms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 Zürich (LV95-Punkt)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Distanz-Referenz für H1a-Test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Details: docs/data_sources.md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 &amp; Methoden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· GeoPandas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Datenaufbereitung, Geo-Operationen, Score-Berechnung.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OSMnx + NetworkX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laden, Isochronen via ego_graph (gewichtete Gehzeit).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 3.4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Speicherung, räumliche SQL-Joins, Indizes (GIST).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osm2pgsql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84632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Vollständiger Import des CH-PBF in planet_osm_*-Tabellen.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scipy.spatial.cKDTree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Distanz-Lookup für Score: O((n+m)·log n) statt O(n·m).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QGIS 3.40 LTR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84632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3D-Visualisierung (Score als Höhe), Print-Layout, Live-Demo.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15-Minute-City-Score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Erreichbarkeit pro Kategorie c und Hex-Zelle z: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A_c(z) = Σ exp(−β · d(z,p) / d_max)   für alle POIs p mit d ≤ d_max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Score(z) = 100 · Σ_c  w_c · A_c(z)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487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1.5    ·    d_max = 1 200 m  (≈ 15 min Fussweg)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128016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Einkauf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22 %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874520" y="3291840"/>
            <a:ext cx="1280160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Bildung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7452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3291840" y="3291840"/>
            <a:ext cx="1280160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Gesundheit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9184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09160" y="3291840"/>
            <a:ext cx="1280160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Erholung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0916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14 %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126480" y="3291840"/>
            <a:ext cx="128016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2648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7543800" y="3291840"/>
            <a:ext cx="1280160" cy="1005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ÖV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5438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Gewichte angelehnt an Moreno et al. (2021) · alle Parameter in src/zh15min/config.py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4/4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— neun Notebooks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822960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73736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37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73736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Stadtgrenze + POIs aus OSM laden (OSMnx)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06654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206654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+ STATPOP + Stadt-Zürich-Quartiere (WFS)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39572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239572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Höhen-Anreicherung des Walking-Graphs (SwissALTI3D)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272491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272491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in PostGIS (Schema zh15min) importieren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54096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05409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Demo-Isochronen + Hex-Gitter (200 m Apothem)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38328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338328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Score-Berechnung (KDTree-beschleunigt)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371246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0120" y="371246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Hypothesen-Test + Versorgungslücken + Robustness Check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404164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40416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Topografischer Score (Tobler) + Δ-Vergleich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" y="437083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370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0120" y="437083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Folium-Karte + Slide-Figuren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Reproduzierbar via docker compose up -d  &amp;  jupyter lab notebooks/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1/6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Score-Karte — Erreichbarkeit Zürich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 Werte (&gt; 90)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Lindenhof, Werd, Rathaus, Langstrasse, City — Kern-Innenstadt mit maximaler Funktionsmischung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Mittelfeld (40 – 70)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Sihlfeld, Hard, Oerlikon, Enge — Wohnviertel mit guter ÖV-Anbindung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Niedrigste Werte (&lt; 20)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Leimbach, Witikon, Hirzenbach, Affoltern, Friesenberg — Stadtperipherie und Hangwohnen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in [0, 100] · Quantil-Klassifikation (k=7) · RdYlGn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2/6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3D-Skyline — Score als Höhe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qgis_3d_sc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3D-Karte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= Score ×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Innenstadt-Quartiere ragen wie Wolkenkratzer (Score 90+)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Farbe = RdYlGn-Verlauf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 = hohe Erreichbarkeit, Rot = niedrige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Live-Demo via PostGIS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 3.40 LTR + PostGIS-Verbindung — neue POIs lassen sich live einsetzen, der Score reagiert dynamisch.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QGIS-Projektdatei: qgis/zh15min.qgz · PostGIS-Quelle: zh15min.score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3/6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Topografische Erweiterung — flach vs. real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flat_vs_top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512064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3383280"/>
            <a:ext cx="51206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3383280"/>
            <a:ext cx="512064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Top-Verlierer (Δ Score)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Oberstrass   </a:t>
            </a:r>
            <a:pPr indent="0" marL="0">
              <a:buNone/>
            </a:pP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−13.8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Fluntern     </a:t>
            </a:r>
            <a:pPr indent="0" marL="0">
              <a:buNone/>
            </a:pP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−11.2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Gewerbeschule </a:t>
            </a:r>
            <a:pPr indent="0" marL="0">
              <a:buNone/>
            </a:pP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−10.1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Alt-Wiedikon </a:t>
            </a:r>
            <a:pPr indent="0" marL="0">
              <a:buNone/>
            </a:pP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Wipkingen    </a:t>
            </a:r>
            <a:pPr indent="0" marL="0">
              <a:buNone/>
            </a:pP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−8.0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97180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Top-Gewinner (Δ Score)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97180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Mühlebach    </a:t>
            </a:r>
            <a:pPr indent="0" marL="0">
              <a:buNone/>
            </a:pP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+8.5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Seefeld      </a:t>
            </a:r>
            <a:pPr indent="0" marL="0">
              <a:buNone/>
            </a:pP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+6.3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Oerlikon     </a:t>
            </a:r>
            <a:pPr indent="0" marL="0">
              <a:buNone/>
            </a:pP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Werd         </a:t>
            </a:r>
            <a:pPr indent="0" marL="0">
              <a:buNone/>
            </a:pP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Sihlfeld     </a:t>
            </a:r>
            <a:pPr indent="0" marL="0">
              <a:buNone/>
            </a:pP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+2.7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669280" y="1417320"/>
            <a:ext cx="31089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69280" y="1417320"/>
            <a:ext cx="31089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52160" y="1572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ändert sich?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852160" y="196596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Tobler-Hiking-Funktion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Walking-Tempo abhängig von Steigung pro Edge — bergauf langsamer, bergab schneller.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 2 m DEM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pro Knoten · Steigung pro Kante · 124 swisstopo-Kacheln.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Plausibilität bestätigt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Verlierer = Hangzonen (Zürichberg, Käferberg, Üetliberg). Gewinner = flache See-Quartiere.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Δ = −2.3, Range [−33, +19].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 · SwissALTI3D · Notebook 06b · 744 Hex × 8092 POIs · Dijkstra-Cutoff 15 min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4/6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Hypothesen-Test — H1, H1a, H2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417320"/>
            <a:ext cx="27432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— Score ↔ Mietpreis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+0.56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n=34, p&lt;10⁻³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H1: höherer Score ↔ höherer Median-Mietpreis (Pearson r = +0.56, p ≈ 5·10⁻⁴). Lindenhof, Rathaus mit hohen Score- UND hohen Miet-Werten; Leimbach, Witikon mit beiden tief.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4173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H1a — Score ↔ HB-Distanz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−0.81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320040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n=34, p&lt;10⁻⁸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H1a hochsignifikant: je weiter vom HB, desto niedriger der Score. Pearson r = −0.84, p &lt; 10⁻⁹. Konvergenz beider H1-Tests bestätigt das Zentralitäts-Muster ohne Markt-Confounder.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417320"/>
            <a:ext cx="27432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 — Wüsteneffekt widerlegt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/ 34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03504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Dichte &gt; P75 ∧ Score-P25 ≤ P25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7220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Quartier erfüllt beide Schwellen. Zürichs Stadtstruktur ist konsistent — keine US-typischen 'food deserts'. Periphere Quartiere haben tiefen Score (&lt; 20), dort wohnen aber auch wenige Menschen.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 aus 06_gap_analysis.ipynb · Live-Reproduzierbar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5/6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 &amp; Flop-Quartiere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5 Quartiere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15798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6052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256946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Rathaus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11680" y="298094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Langstrasse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011680" y="339242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376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0" y="380390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376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Flop 5 Quartiere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2157984"/>
            <a:ext cx="2057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2366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Witikon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569464"/>
            <a:ext cx="22860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0060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Hirzenbach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298094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5226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060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Affoltern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339242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522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0060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Friesenberg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72200" y="380390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522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Score-Mittelwert je Quartier · Gesamt-Range 9 – 92 · n = 34 (alle offiziellen Quartiere)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6/6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Quartier-Typologie via K-Means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der 34 Quartiere auf den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Kategorie-Erreichbarkeiten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(statt nur Total-Score) ergibt eine vier-typische Zürcher Quartier-Landschaft: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057400"/>
            <a:ext cx="402336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Zentrale Mischung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70332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90  ·  n = 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 · Werd · Rathaus · Langstrasse · City · Hochschulen · Gewerbeschule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sechs Funktionen in Walking-Distanz.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057400"/>
            <a:ext cx="40233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Mittelband mit ÖV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90956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59  ·  n = 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 · Hard · Oerlikon · Alt-Wiedikon · Unterstrass · Mühlebach · Escher Wyss · Enge · Wipkingen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0060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Wohnviertel mit guter Tram-/Bus-Anbindung.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383280"/>
            <a:ext cx="40233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Grünraum-dominiert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70332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29  ·  n = 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Saatlen · Seebach · Schwamendingen-Mitte · Friesenberg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Erholung hoch (⌀ 0.63) · alle anderen Funktionen tief — Wald-/Parknähe statt zentraler Versorgung.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33832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53212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Periphere Wohnviertel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0956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23  ·  n = 14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0060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Hottingen · Witikon · Leimbach · Affoltern · Hirzenbach · u. a.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Funktionen unterdurchschnittlich.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 auf 6 standardisierten Kategorie-Accessibilities · sklearn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Antwort auf die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grössten Lücken zwischen Wohnen und täglicher Infrastruktur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liegen in der Stadtperipherie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(Leimbach, Witikon, Hirzenbach, Affoltern, Friesenberg) — über 80 Score-Punkte Abstand zum Zentrum. Die Korrelation Score × Distanz zum HB beträgt </a:t>
            </a:r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−0.81 (p &lt; 10⁻⁸)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Zentralität ist der dominante Treiber. Multi-Variate-Modell erklärt 91 % der Score-Varianz.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Stadtplanung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Versorgungs-Auflagen für Entwicklungsgebiete vor der Erstvermietung.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Lagen mit Score &lt; 40 sind preislich Chance, bergen aber Vermarktungsrisiko.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Einzelhandel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Wüsten-Quartiere = priorisierte Standorte für Nahversorger-Expansion.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Robustness Check — Modell hält stand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9377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9377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Multi-Variate-Regression  (n = 34, R² = 0.91)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Prädiktor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bivar. 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6324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partiell 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0" y="2057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p-Wert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−0.84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−9.52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931920" y="2423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&lt;10⁻⁶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46320" y="24231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280720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(SwissALTI3D)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−0.60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06324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−0.107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931920" y="280720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&lt;10⁻³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0" y="280720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31912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POI-Dichte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9456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06324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+0.069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931920" y="31912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46320" y="319125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Signifikanz-Codes:  *** p&lt;0.001 · ** p&lt;0.01 · * p&lt;0.05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0" y="1508760"/>
            <a:ext cx="3200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0" y="1508760"/>
            <a:ext cx="32004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1645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das bedeutet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669280" y="205740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H1a 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 hochsignifikant nach Kontrolle (β = −9.52).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Topografie ist Co-Treiber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SwissALTI3D-Höhen: höher = niedrigerer Score (β = −0.107).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Gewichts-robust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 &gt; 0.98 in allen Szenarien.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Distanz-Approximation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Luftlinie vs. Strassennetz: r = 0.991.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OLS-Regression mit statsmodels · Daten: reports/robustness_data.csv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Limitationen unseres Modells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Datenqualität OSM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Kleine, unmappte Geschäfte fehlen. Annahme: Verzerrung gering, weil Geschäfte ähnlicher Klassifikation OSM-mässig konsistent sind.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Tobler-Modell-Annahme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Tobler-Hiking-Funktion ist auf Wandern in offenem Gelände kalibriert (Tobler 1993), nicht auf städtisches Gehen mit Ampeln und Querstrassen. Der relative Unterschied flat vs. topografisch (Slide 13) bleibt aber aussagekräftig.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Single-City-Befund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H2-Falsifikation (keine Wüsten) gilt für Zürich; die 15-Min-Stadt-Methodik ist nicht stadt-spezifisch und sollte für externe Validität auf weitere Städte angewendet werden.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Mietpreis-Confounder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Premium-Wohnlagen wie Hottingen, Seefeld zeigen hohe Mieten trotz niedrigerer Score-Werte — andere Form von Lagequalität (ruhig, grün) als unsere fussläufige Mischnutzungs-Definition.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Ausblick &amp; take-away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DEM-basierte Topografie + Multi-Variate-Regression mit ÖV-Anbindung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8745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Echtzeit-Mobilitätsdaten — SBB GTFS, ZVV-Reisezeiten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Dynamisches Re-Scoring bei neuem POI (QGIS-Live-Demo)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Erweiterung auf Winterthur, Basel — nationaler Vergleich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Vielen Dank — Fragen &amp; Diskussion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· github.com/sanirmem/zh15min   ·   Live-Demo: docker compose up -d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· BFS · swisstopo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15-Minute City Intelligence — Zürich</dc:title>
  <dc:subject>PptxGenJS Presentation</dc:subject>
  <dc:creator>Gruppe 15-Min City Intelligence — ZHAW FS2026</dc:creator>
  <cp:lastModifiedBy>Gruppe 15-Min City Intelligence — ZHAW FS2026</cp:lastModifiedBy>
  <cp:revision>1</cp:revision>
  <dcterms:created xsi:type="dcterms:W3CDTF">2026-05-23T08:44:35Z</dcterms:created>
  <dcterms:modified xsi:type="dcterms:W3CDTF">2026-05-23T08:44:35Z</dcterms:modified>
</cp:coreProperties>
</file>