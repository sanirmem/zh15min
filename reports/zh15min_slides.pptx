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ZHAW · FS 2026 · Einsatz von Geodaten in Marketing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15-Minute City Intelligence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Geo-Algorithmus zur Bewertung von Standortqualität und Identifikation von Versorgungslücken in Zürich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29184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Mitglied 1 · Mitglied 2 · Mitglied 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Einsatz von Geodaten in Marketing — Dr. Mario Gellrich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2026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Open Data · BFS · swisstopo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Inhaltsverzeichnis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15361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Übersicht &amp; Workflow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03911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Einleitung — Hintergrund, Forschungsfrage, Hypothesen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254203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 — Daten, Tools, Vorgehen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97280" y="304495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 — Score, Hypothesen-Test, Versorgungslücken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35478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 &amp; Schlussfolgerungen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40507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Limitationen &amp; Ausblick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Pflicht-Struktur gemäss Modulvorgaben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ÜBERSICHT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vom Datensatz bis zur Karte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· BFS STATPOP · Stadt Zürich Open Data · swisstopo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9272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56432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59352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PostGIS-Import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56432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osm2pgsql + GeoPandas → Schema zh15min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27064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27064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64224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67144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Hex-Gitter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64224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 Apothem → 744 Analyse-Zellen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11480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Erreichbarkeit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Walking-Isochronen + Huff-Distance-Decay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19272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319272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56432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56432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59352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(0–100)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456432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gewichtete Komponenten je Zelle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27064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27064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4224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64224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867144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Visualisierung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364224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 · Matplotlib · QGIS-3D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Werkzeuge: Python · GeoPandas · OSMnx · PostGIS · QGIS 3.40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Hintergrund &amp; Motivation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</a:t>
            </a:r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15-Minuten-Stadt</a:t>
            </a:r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(Moreno 2021) ist heute Leitbild moderner Stadtplanung — und wird zunehmend zum </a:t>
            </a:r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harten Wertfaktor</a:t>
            </a:r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für Immobilien und Einzelhandel.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 min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Schwellwert: Funktionen des täglichen Lebens fussläufig erreichbar (Moreno 2021)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1.2 km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24612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1071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Modellparameter d_max — 15 min Fussweg bei 5 km/h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03504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9963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in Zürich mit gültigem Score (Range 8 – 93)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 &amp;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554480"/>
            <a:ext cx="41148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Entwicklung eines automatisierten, reproduzierbaren Geo-Algorithmus, der die Erreichbarkeit der wichtigsten Funktionen des täglichen Lebens für jeden Punkt in Zürich quantifiziert — als Grundlage für Stadtplanung und Immobilien-Bewertung.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61772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1554480"/>
            <a:ext cx="41148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Forschungsfrage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0060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welchen Quartieren Zürichs klaffen die grössten Lücken zwischen Wohnungsdichte und täglicher Infrastruktur (Einkauf, Bildung, Gesundheit, Erholung, ÖV)?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Zwei testbare Hypothesen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10512"/>
            <a:ext cx="777240" cy="7772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1051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554480" y="17373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korreliert mit Zentralität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21031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mit grösserer Distanz zum Hauptbahnhof haben einen niedrigeren 15-Min-Score — zentrale Lage bedeutet bessere Erreichbarkeit.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2514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Pearson- &amp; Spearman-Korrelation Score × Distanz HB (n = 44 Quartiere)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8229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971800"/>
            <a:ext cx="82296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27832"/>
            <a:ext cx="777240" cy="777240"/>
          </a:xfrm>
          <a:prstGeom prst="ellipse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2783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54480" y="31546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Peripherie-Effekt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4480" y="3520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gibt Quartiere mit überwiegender Wohnnutzung in der Peripherie, deren Score im untersten Quartil liegt — strukturelle Versorgungslücken.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554480" y="39319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Identifikation der Flop-Quartiere &amp; qualitative Lage-Analyse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 — sieben Quellen, ein Modell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65760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Quelle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Verwendung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Lizenz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OpenStreetMap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 (6 Kategorien), Stadtgrenze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Geofabrik PBF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vollständiges OSM (Schweiz, optional)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Walking-Graph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Strassennetz für Isochronen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OSM admin_level=10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Quartier-Polygone (44 mit Score)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 Zürich (LV95-Punkt)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Distanz-Referenz für H1-Test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Open-Elevation 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Höhe für Robustness Check (Confounder)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/ GeoAdmin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Hintergrundkarten (Folium-Tiles)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Terms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Details: docs/data_sources.md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Tools &amp; Methoden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 · GeoPandas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Datenaufbereitung, Geo-Operationen, Score-Berechnung.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OSMnx + NetworkX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4632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Walking-Graph laden, Isochronen via ego_graph (gewichtete Gehzeit).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 3.4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Zentrale Speicherung, räumliche SQL-Joins, Indizes (GIST).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osm2pgsql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84632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Vollständiger Import des CH-PBF in planet_osm_*-Tabellen.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scipy.spatial.cKDTree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Distanz-Lookup für Score: O((n+m)·log n) statt O(n·m).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QGIS 3.40 LTR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84632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3D-Visualisierung (Score als Höhe), Print-Layout, Live-Demo.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 15-Minute-City-Score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Erreichbarkeit pro Kategorie c und Hex-Zelle z: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A_c(z) = Σ exp(−β · d(z,p) / d_max)   für alle POIs p mit d ≤ d_max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Score(z) = 100 · Σ_c  w_c · A_c(z)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80560" y="24871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= 1.5    ·    d_max = 1 200 m  (≈ 15 min Fussweg)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128016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Einkauf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22 %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874520" y="3291840"/>
            <a:ext cx="1280160" cy="1005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Bildung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87452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3291840" y="3291840"/>
            <a:ext cx="1280160" cy="10058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Gesundheit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9184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709160" y="3291840"/>
            <a:ext cx="1280160" cy="1005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Erholung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70916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14 %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126480" y="3291840"/>
            <a:ext cx="1280160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12648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10 %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7543800" y="3291840"/>
            <a:ext cx="1280160" cy="10058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38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ÖV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5438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Gewichte angelehnt an Moreno et al. (2021) · alle Parameter in src/zh15min/config.py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4/4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— sieben Notebooks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8229600" cy="5486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92024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92024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Stadtgrenze + POIs aus OSM laden (OSMnx)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30428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304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230428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Walking-Graph + Quartier-Polygone (OSM admin_level=10)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688336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268833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in PostGIS (Schema zh15min) importieren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07238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072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" y="307238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Demo-Isochronen + Hex-Gitter (200 m Apothem)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456432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345643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Score-Berechnung (KDTree-beschleunigt)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84048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0120" y="384048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Hypothesen-Test (Score × Distanz HB) + Versorgungslücken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422452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4224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60120" y="422452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Folium-Karte + Slide-Figuren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Reproduzierbar via docker compose up -d  &amp;  jupyter lab notebooks/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1/3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Score-Karte — Erreichbarkeit Zürich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score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63040"/>
            <a:ext cx="475488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463040"/>
            <a:ext cx="32461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40680" y="1463040"/>
            <a:ext cx="324612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23560" y="16276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die Karte zeigt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23560" y="2057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 Werte (&gt; 85)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City, Langstrasse, Altstadt — kompakte Kern-Innenstadt mit dichter Funktionsmischung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Mittelfeld (30 – 60)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Wiedikon, Höngg — Wohnviertel mit guter ÖV-Anbindung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Niedrigste Werte (&lt; 20)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Leimbach, Witikon, Hirzenbach — Stadtperipherie, dünne Versorgung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in [0, 100] · Quantil-Klassifikation (k=7) · RdYlGn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2/3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Hypothesen-Test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1148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 — Score ↔ Zentralität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 = −0.64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Spearman, n = 44, p &lt; 10⁻⁵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2918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Stützt H1 hochsignifikant: je weiter ein Quartier vom Hauptbahnhof entfernt liegt, desto niedriger der 15-Min-Score. Pearson r = −0.61 mit p = 9.2 × 10⁻⁶ bestätigt das Bild.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1772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1508760"/>
            <a:ext cx="41148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 — Peripherie-Effekt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224028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Quartiere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617720" y="2834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&lt; 20 — alle in der Peripherie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00600" y="32918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 bestätigt: Leimbach, Witikon, Hirzenbach, Hottingen und Friesenberg — alle peripher gelegene Quartiere mit überwiegender Wohnnutzung, Score zwischen 8 und 17.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Werte aus 06_gap_analysis.ipynb · Live-Reproduzierbar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3/3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 &amp; Flop-Quartiere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11480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 5 Quartiere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157984"/>
            <a:ext cx="212598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8338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Langstrasse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2569464"/>
            <a:ext cx="212598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8338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Altstadt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11680" y="298094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Gewerbeschule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011680" y="3392424"/>
            <a:ext cx="201168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6908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 4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011680" y="3803904"/>
            <a:ext cx="194310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0050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85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1772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17720" y="1508760"/>
            <a:ext cx="41148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Flop 5 Quartiere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0060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2157984"/>
            <a:ext cx="18288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060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Witikon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2569464"/>
            <a:ext cx="25146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6938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0060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Hirzenbach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72200" y="2980944"/>
            <a:ext cx="36576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0060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Hottingen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2200" y="3392424"/>
            <a:ext cx="38862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0654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80060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Friesenberg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172200" y="3803904"/>
            <a:ext cx="38862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0654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Score-Mittelwert je Quartier · Gesamt-Range 8 – 93 · n = 44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Antwort auf die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grössten Lücken zwischen Wohnen und täglicher Infrastruktur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liegen in der Stadtperipherie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(Leimbach, Witikon, Hirzenbach, Hottingen, Friesenberg) — über 70 Score-Punkte Abstand zum Zentrum. Die Korrelation Score × Distanz zum HB beträgt </a:t>
            </a:r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 = −0.64 (p &lt; 10⁻⁵)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Zentralität ist ein starker Treiber. Robustheits-Check folgt.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Stadtplanung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Versorgungs-Auflagen für Entwicklungsgebiete vor der Erstvermietung.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4612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Investoren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Lagen mit Score &lt; 40 sind preislich Chance, bergen aber Vermarktungsrisiko.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Einzelhandel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Wüsten-Quartiere = priorisierte Standorte für Nahversorger-Expansion.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Robustness Check — H1 hält stand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9377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9377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Multi-Variate-Regression  (n = 44, R² = 0.75)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Prädiktor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0312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bivar. 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7180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partiell 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p-Wert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09160" y="20574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Status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 HB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0312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−0.61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7180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−3.65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84048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0.011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709160" y="24231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280720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(approx)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0312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+0.08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97180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+0.07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4048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0.281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709160" y="28072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n.s.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3191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POI-Dichte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10312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+0.84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97180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84048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&lt;10⁻⁸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09160" y="319125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Signifikanz-Codes:  *** p&lt;0.001 · ** p&lt;0.01 · * p&lt;0.05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0" y="1508760"/>
            <a:ext cx="3200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486400" y="1508760"/>
            <a:ext cx="32004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0" y="1645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das bedeutet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669280" y="2057400"/>
            <a:ext cx="2926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robust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 bleibt nach Kontrolle für Höhe und POI-Dichte signifikant.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Topografie inkonklusiv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approximiert (Open-Elevation-API zum Zeitpunkt down) — kein definitives Urteil.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POI-Dichte tautologisch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wird aus POIs berechnet — Korrelation strukturell zu erwarten.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OLS-Regression mit statsmodels · Daten: reports/robustness_data.csv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Limitationen unseres Modells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Datenqualität OSM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Kleine, unmappte Geschäfte fehlen. Annahme: Verzerrung gering, weil Geschäfte ähnlicher Klassifikation OSM-mässig konsistent sind.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Mietpreis-Validierung offen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Stadt-Zürich-Mietpreis-Datensatz war zum Auswertungszeitpunkt unter dokumentierter URL nicht erreichbar (HTTP 404) — H1 wurde via Distanz zum HB validiert.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Topografie nur approximiert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Open-Elevation-API zum Auswertungszeitpunkt down. Höhen-Confounder konnte daher nicht final getestet werden — DEM-basiert wäre der saubere Weg.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Luftlinien-Approximation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nutzt KDTree-Distanz, nicht echte Strassengraph-Wege. Validierung über OSMnx-Demo-Isochronen (Notebook 04).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Ausblick &amp; take-away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17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4173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DEM-basierte Topografie + Multi-Variate-Regression mit ÖV-Anbindung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8745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Echtzeit-Mobilitätsdaten — SBB GTFS, ZVV-Reisezeiten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3317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Dynamisches Re-Scoring bei neuem POI (QGIS-Live-Demo)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27889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Erweiterung auf Winterthur, Basel — nationaler Vergleich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Vielen Dank — Fragen &amp; Diskussion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· github.com/&lt;gruppe&gt;/zh15min   ·   Live-Demo: docker compose up -d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· BFS · swisstopo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15-Minute City Intelligence — Zürich</dc:title>
  <dc:subject>PptxGenJS Presentation</dc:subject>
  <dc:creator>Gruppe 15-Min City Intelligence — ZHAW FS2026</dc:creator>
  <cp:lastModifiedBy>Gruppe 15-Min City Intelligence — ZHAW FS2026</cp:lastModifiedBy>
  <cp:revision>1</cp:revision>
  <dcterms:created xsi:type="dcterms:W3CDTF">2026-04-29T06:32:55Z</dcterms:created>
  <dcterms:modified xsi:type="dcterms:W3CDTF">2026-04-29T06:32:55Z</dcterms:modified>
</cp:coreProperties>
</file>