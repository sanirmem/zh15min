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384048"/>
            <a:ext cx="164592" cy="1645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ZHAW · FS 2026 · Einsatz von Geodaten in Marketing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15-Minute City Intelligence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21945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Geo-Algorithmus zur Bewertung von Standortqualität und Identifikation von Versorgungslücken in Zürich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3291840"/>
            <a:ext cx="128016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3520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Gruppe: </a:t>
            </a:r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Memis Sanir · Andrea Callegari · Ioannis Organtzidis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Modul: </a:t>
            </a:r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Einsatz von Geodaten in Marketing — Dr. Mario Gellrich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Datum: </a:t>
            </a:r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 2026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OpenStreetMap-Mitwirkende · Stadt Zürich Open Data · BFS · swisstopo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20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Inhaltsverzeichnis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7280" y="153619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Übersicht &amp; Workflow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05740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97280" y="203911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Einleitung — Hintergrund, Forschungsfrage, Hypothesen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256032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560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97280" y="254203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Methodik — Daten, Tools, Vorgehen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306324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97280" y="304495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Ergebnisse — Score, Hypothesen-Test, Versorgungslücken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356616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97280" y="354787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Diskussion &amp; Schlussfolgerungen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406908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97280" y="405079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Limitationen &amp; Ausblick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Pflicht-Struktur gemäss Modulvorgaben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ÜBERSICHT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Workflow vom Datensatz bis zur Karte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1480" y="155448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155448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1907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7190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51560" y="171907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2402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 · BFS STATPOP · Stadt Zürich Open Data · swisstopo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19272" y="155448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19272" y="155448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56432" y="171907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7190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959352" y="171907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PostGIS-Import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56432" y="22402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osm2pgsql + GeoPandas → Schema zh15min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27064" y="155448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27064" y="155448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64224" y="171907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64224" y="17190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867144" y="171907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Hex-Gitter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364224" y="22402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m Apothem → 744 Analyse-Zellen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11480" y="324612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11480" y="324612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41071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34107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51560" y="341071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Erreichbarkeit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48640" y="3931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Walking-Isochronen + Huff-Distance-Decay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319272" y="324612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319272" y="324612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56432" y="341071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56432" y="34107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959352" y="341071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Score (0–100)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456432" y="3931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gewichtete Komponenten je Zelle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27064" y="324612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227064" y="324612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4224" y="341071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64224" y="34107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867144" y="341071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Visualisierung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364224" y="3931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Folium · Matplotlib · QGIS-3D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Werkzeuge: Python · GeoPandas · OSMnx · PostGIS · QGIS 3.40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EINLEITUNG · 1/4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Hintergrund &amp; Motivation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</a:t>
            </a:r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15-Minuten-Stadt</a:t>
            </a:r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(Moreno 2021) ist heute Leitbild moderner Stadtplanung — und wird zunehmend zum </a:t>
            </a:r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harten Wertfaktor</a:t>
            </a:r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für Immobilien und Einzelhandel.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6974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2697480"/>
            <a:ext cx="260604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7889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 min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3832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21792" y="3703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Schwellwert: Funktionen des täglichen Lebens fussläufig erreichbar (Moreno 2021)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46120" y="26974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46120" y="2697480"/>
            <a:ext cx="260604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6120" y="27889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1.2 km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3246120" y="33832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10712" y="3703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Modellparameter d_max — 15 min Fussweg bei 5 km/h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35040" y="26974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35040" y="2697480"/>
            <a:ext cx="260604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35040" y="27889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34 / 34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6035040" y="33832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199632" y="3703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offizielle Stadt-Zürich-Quartiere mit Score (Range 9 – 92)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EINLEITUNG · 2/4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Zielsetzung &amp; Forschungsfrage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1480" y="1554480"/>
            <a:ext cx="411480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1554480"/>
            <a:ext cx="41148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7830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Zielsetzung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94360" y="2240280"/>
            <a:ext cx="3749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Entwicklung eines automatisierten, reproduzierbaren Geo-Algorithmus, der die Erreichbarkeit der wichtigsten Funktionen des täglichen Lebens für jeden Punkt in Zürich quantifiziert — als Grundlage für Stadtplanung und Immobilien-Bewertung.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617720" y="1554480"/>
            <a:ext cx="411480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17720" y="1554480"/>
            <a:ext cx="41148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00600" y="17830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Forschungsfrage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800600" y="2240280"/>
            <a:ext cx="3749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welchen Quartieren Zürichs klaffen die grössten Lücken zwischen Wohnungsdichte und täglicher Infrastruktur (Einkauf, Bildung, Gesundheit, Erholung, ÖV)?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EINLEITUNG · 3/4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Drei testbare Hypothesen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463040"/>
            <a:ext cx="82296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27632"/>
            <a:ext cx="685800" cy="6858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62763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1591056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Score ↔ Mietpreis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63040" y="1865376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Quartiere mit höherem 15-Min-Score haben höhere Median-Mietpreise — Erreichbarkeit übersetzt sich in Standortwert.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463040" y="2212848"/>
            <a:ext cx="7040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Pearson + Spearman Score × Median-Mietpreis (Stadt Zürich Open Data, n = 34)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2560320"/>
            <a:ext cx="82296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560320"/>
            <a:ext cx="82296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2724912"/>
            <a:ext cx="685800" cy="6858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72491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H1a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63040" y="2688336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Zentralitäts-Robustness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63040" y="2962656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Quartiere mit grösserer HB-Distanz haben einen niedrigeren Score — methodisch sauberer Proxy ohne Marktdaten-Confounder.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463040" y="3310128"/>
            <a:ext cx="7040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Pearson + Spearman Score × Distanz HB (LV95-Centroide, n = 34)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3657600"/>
            <a:ext cx="82296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3657600"/>
            <a:ext cx="822960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822192"/>
            <a:ext cx="685800" cy="685800"/>
          </a:xfrm>
          <a:prstGeom prst="ellipse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82219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H2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463040" y="3785616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Wüsteneffekt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63040" y="4059936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gibt Quartiere mit hoher Bevölkerungsdichte und niedrigem Score — strukturelle Versorgungs-Wüsten.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463040" y="4407408"/>
            <a:ext cx="7040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Schwellenwert-Test: Dichte &gt; P75 UND Score-P25 ≤ P25 (BFS STATPOP 2023)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METHODIK · 1/4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Daten — acht Quellen, ein Modell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657600"/>
                <a:gridCol w="14630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Quelle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Verwendung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Lizenz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OpenStreetMap (OSMnx)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POIs (6 Kategorien), Stadtgrenze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ODbL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Geofabrik PBF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vollständiges OSM (Schweiz, optional)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ODbL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Walking-Graph (OSMnx)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Strassennetz für Isochronen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ODbL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BFS STATPOP 2023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Bevölkerungsdichte (Hektar-Raster)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Data BFS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Stadt Zürich Open Data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 offizielle Quartiere + Mietpreis-Index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 BY 4.0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swisstopo SwissALTI3D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Höhenmodell 2 m für Tobler-Erweiterung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swisstopo OGD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swisstopo TileMap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Hintergrundkarten (Folium-Tiles)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swisstopo Terms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HB Zürich (LV95-Punkt)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Distanz-Referenz für H1a-Test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Details: docs/data_sources.md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METHODIK · 2/4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Tools &amp; Methoden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642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Python · GeoPandas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19659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Datenaufbereitung, Geo-Operationen, Score-Berechnung.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663440" y="155448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155448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6642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OSMnx + NetworkX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846320" y="19659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Walking-Graph laden, Isochronen via ego_graph (gewichtete Gehzeit).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51460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251460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243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PostGIS 3.4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40080" y="29260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Zentrale Speicherung, räumliche SQL-Joins, Indizes (GIST).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63440" y="251460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251460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26243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osm2pgsql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846320" y="29260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Vollständiger Import des CH-PBF in planet_osm_*-Tabellen.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347472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5844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scipy.spatial.cKDTree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38862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Distanz-Lookup für Score: O((n+m)·log n) statt O(n·m).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63440" y="347472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63440" y="347472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0" y="35844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QGIS 3.40 LTR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4846320" y="38862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3D-Visualisierung (Score als Höhe), Print-Layout, Live-Demo.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METHODIK · 3/4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 15-Minute-City-Score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82296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08760"/>
            <a:ext cx="82296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45920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Erreichbarkeit pro Kategorie c und Hex-Zelle z: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9659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A_c(z) = Σ exp(−β · d(z,p) / d_max)   für alle POIs p mit d ≤ d_max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Score(z) = 100 · Σ_c  w_c · A_c(z)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480560" y="248716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 = 1.5    ·    d_max = 1 200 m  (≈ 15 min Fussweg)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291840"/>
            <a:ext cx="1280160" cy="10058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Einkauf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720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22 %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1874520" y="3291840"/>
            <a:ext cx="1280160" cy="10058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7452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Bildung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87452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18 %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3291840" y="3291840"/>
            <a:ext cx="1280160" cy="10058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9184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Gesundheit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29184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18 %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4709160" y="3291840"/>
            <a:ext cx="1280160" cy="10058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0916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Erholung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70916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14 %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126480" y="3291840"/>
            <a:ext cx="1280160" cy="10058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2648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Gastro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12648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10 %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7543800" y="3291840"/>
            <a:ext cx="1280160" cy="10058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54380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ÖV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54380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18 %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Gewichte angelehnt an Moreno et al. (2021) · alle Parameter in src/zh15min/config.py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METHODIK · 4/4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— neun Notebooks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8229600" cy="5486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737360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737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60120" y="173736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Stadtgrenze + POIs aus OSM laden (OSMnx)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2066544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066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60120" y="2066544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Walking-Graph + STATPOP + Stadt-Zürich-Quartiere (WFS)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920" y="2395728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3957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60120" y="239572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Höhen-Anreicherung des Walking-Graphs (SwissALTI3D)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" y="2724912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" y="272491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in PostGIS (Schema zh15min) importieren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54096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3054096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Demo-Isochronen + Hex-Gitter (200 m Apothem)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920" y="3383280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3383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60120" y="338328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Score-Berechnung (KDTree-beschleunigt)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02920" y="3712464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37124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60120" y="3712464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Hypothesen-Test + Versorgungslücken + Robustness Check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02920" y="4041648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" y="4041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60120" y="40416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Topografischer Score (Tobler) + Δ-Vergleich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02920" y="4370832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2920" y="43708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60120" y="437083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Folium-Karte + Slide-Figuren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Reproduzierbar via docker compose up -d  &amp;  jupyter lab notebooks/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1/6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Score-Karte — Erreichbarkeit Zürich</a:t>
            </a:r>
            <a:endParaRPr lang="en-US" sz="3000" dirty="0"/>
          </a:p>
        </p:txBody>
      </p:sp>
      <p:pic>
        <p:nvPicPr>
          <p:cNvPr id="4" name="Image 0" descr="/sessions/intelligent-practical-clarke/mnt/Einsatz von Geodaten in Marketing/reports/figures/score_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463040"/>
            <a:ext cx="4754880" cy="3108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40680" y="1463040"/>
            <a:ext cx="324612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40680" y="1463040"/>
            <a:ext cx="324612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23560" y="16276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 die Karte zeigt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623560" y="2057400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Höchste Werte (&gt; 90)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Lindenhof, Werd, Rathaus, City — Kern-Innenstadt mit maximaler Funktionsmischung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Mittelfeld (30 – 60)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Sihlfeld, Wipkingen, Enge — Wohnviertel mit guter ÖV-Anbindung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D73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Niedrigste Werte (&lt; 20)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Leimbach, Witikon, Hirzenbach, Affoltern — Stadtperipherie und Hangwohnen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in [0, 100] · Quantil-Klassifikation (k=7) · RdYlGn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2/6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3D-Skyline — Score als Höhe</a:t>
            </a:r>
            <a:endParaRPr lang="en-US" sz="3000" dirty="0"/>
          </a:p>
        </p:txBody>
      </p:sp>
      <p:pic>
        <p:nvPicPr>
          <p:cNvPr id="4" name="Image 0" descr="/sessions/intelligent-practical-clarke/mnt/Einsatz von Geodaten in Marketing/reports/figures/qgis_3d_sco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463040"/>
            <a:ext cx="4754880" cy="3108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40680" y="1463040"/>
            <a:ext cx="324612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40680" y="1463040"/>
            <a:ext cx="324612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23560" y="16276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 die 3D-Karte zeigt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623560" y="2057400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Höhe = Score × 30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Innenstadt-Quartiere ragen wie Wolkenkratzer (Score 90+)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Farbe = RdYlGn-Verlauf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Grün = hohe Erreichbarkeit, Rot = niedrige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Live-Demo via PostGIS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QGIS 3.40 LTR + PostGIS-Verbindung — neue POIs lassen sich live einsetzen, der Score reagiert dynamisch.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QGIS-Projektdatei: qgis/zh15min.qgz · PostGIS-Quelle: zh15min.score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3/6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Topografische Erweiterung — flach vs. real</a:t>
            </a:r>
            <a:endParaRPr lang="en-US" sz="3000" dirty="0"/>
          </a:p>
        </p:txBody>
      </p:sp>
      <p:pic>
        <p:nvPicPr>
          <p:cNvPr id="4" name="Image 0" descr="/sessions/intelligent-practical-clarke/mnt/Einsatz von Geodaten in Marketing/reports/figures/score_flat_vs_top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17320"/>
            <a:ext cx="5120640" cy="1828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3383280"/>
            <a:ext cx="512064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65760" y="3383280"/>
            <a:ext cx="512064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34564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Top-Verlierer (Δ Score)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37490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Oberstrass  </a:t>
            </a:r>
            <a:pPr indent="0" marL="0">
              <a:buNone/>
            </a:pPr>
            <a:r>
              <a:rPr lang="en-US" sz="1000" b="1" dirty="0">
                <a:solidFill>
                  <a:srgbClr val="D730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−13.8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Fluntern    </a:t>
            </a:r>
            <a:pPr indent="0" marL="0">
              <a:buNone/>
            </a:pPr>
            <a:r>
              <a:rPr lang="en-US" sz="1000" b="1" dirty="0">
                <a:solidFill>
                  <a:srgbClr val="D730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−11.2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Alt-Wiedikon</a:t>
            </a:r>
            <a:pPr indent="0" marL="0">
              <a:buNone/>
            </a:pPr>
            <a:r>
              <a:rPr lang="en-US" sz="1000" b="1" dirty="0">
                <a:solidFill>
                  <a:srgbClr val="D730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−8.1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Wipkingen   </a:t>
            </a:r>
            <a:pPr indent="0" marL="0">
              <a:buNone/>
            </a:pPr>
            <a:r>
              <a:rPr lang="en-US" sz="1000" b="1" dirty="0">
                <a:solidFill>
                  <a:srgbClr val="D730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−8.0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971800" y="34564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Top-Gewinner (Δ Score)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2971800" y="37490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Mühlebach   </a:t>
            </a:r>
            <a:pPr indent="0" marL="0">
              <a:buNone/>
            </a:pPr>
            <a:r>
              <a:rPr lang="en-US" sz="1000" b="1" dirty="0">
                <a:solidFill>
                  <a:srgbClr val="1A98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+8.5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Seefeld     </a:t>
            </a:r>
            <a:pPr indent="0" marL="0">
              <a:buNone/>
            </a:pPr>
            <a:r>
              <a:rPr lang="en-US" sz="1000" b="1" dirty="0">
                <a:solidFill>
                  <a:srgbClr val="1A98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+6.3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Oerlikon    </a:t>
            </a:r>
            <a:pPr indent="0" marL="0">
              <a:buNone/>
            </a:pPr>
            <a:r>
              <a:rPr lang="en-US" sz="1000" b="1" dirty="0">
                <a:solidFill>
                  <a:srgbClr val="1A98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+4.4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Werd        </a:t>
            </a:r>
            <a:pPr indent="0" marL="0">
              <a:buNone/>
            </a:pPr>
            <a:r>
              <a:rPr lang="en-US" sz="1000" b="1" dirty="0">
                <a:solidFill>
                  <a:srgbClr val="1A98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+3.0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669280" y="1417320"/>
            <a:ext cx="310896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669280" y="1417320"/>
            <a:ext cx="310896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852160" y="15727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 ändert sich?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852160" y="1965960"/>
            <a:ext cx="27432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Tobler-Hiking-Funktion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Walking-Tempo abhängig von Steigung pro Edge — bergauf langsamer, bergab schneller.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SwissALTI3D 2 m DEM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Höhe pro Knoten · Steigung pro Kante · 124 swisstopo-Kacheln.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Plausibilität bestätigt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Verlierer = Hangzonen (Zürichberg, Käferberg, Üetliberg). Gewinner = flache See-Quartiere.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Δ = −2.3, Range [−33, +19].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Tobler · SwissALTI3D · Notebook 06b · 744 Hex × 8092 POIs · Dijkstra-Cutoff 15 min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4/6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Hypothesen-Test — H1, H1a, H2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417320"/>
            <a:ext cx="274320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417320"/>
            <a:ext cx="27432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57276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 — Score ↔ Mietpreis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1993392"/>
            <a:ext cx="274320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ρ = +0.56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365760" y="2528316"/>
            <a:ext cx="27432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Spearman, n=34, p&lt;10⁻³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2907792"/>
            <a:ext cx="24688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Stützt H1: höherer Score ↔ höherer Median-Mietpreis (Pearson r = +0.56, p ≈ 5·10⁻⁴). Lindenhof, Rathaus mit hohen Score- UND hohen Miet-Werten; Leimbach, Witikon mit beiden tief.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00400" y="1417320"/>
            <a:ext cx="274320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0" y="141732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37560" y="157276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H1a — Score ↔ HB-Distanz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00400" y="1993392"/>
            <a:ext cx="274320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ρ = −0.81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3200400" y="2528316"/>
            <a:ext cx="27432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Spearman, n=34, p&lt;10⁻⁸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337560" y="2907792"/>
            <a:ext cx="24688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Stützt H1a hochsignifikant: je weiter vom HB, desto niedriger der Score. Pearson r = −0.84, p &lt; 10⁻⁹. Konvergenz beider H1-Tests bestätigt das Zentralitäts-Muster ohne Markt-Confounder.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035040" y="1417320"/>
            <a:ext cx="274320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035040" y="1417320"/>
            <a:ext cx="2743200" cy="54864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72200" y="157276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H2 — Wüsteneffekt widerlegt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035040" y="1993392"/>
            <a:ext cx="274320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 / 34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6035040" y="2528316"/>
            <a:ext cx="27432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Dichte &gt; P75 ∧ Score-P25 ≤ P25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72200" y="2907792"/>
            <a:ext cx="24688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Quartier erfüllt beide Schwellen. Zürichs Stadtstruktur ist konsistent — keine US-typischen 'food deserts'. Periphere Quartiere haben tiefen Score (&lt; 20), dort wohnen aber auch wenige Menschen.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Werte aus 06_gap_analysis.ipynb · Live-Reproduzierbar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20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5/6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Top- &amp; Flop-Quartiere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41148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08760"/>
            <a:ext cx="4114800" cy="54864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459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 5 Quartiere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Lindenhof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011680" y="2157984"/>
            <a:ext cx="210312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60520" y="210312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251460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011680" y="2569464"/>
            <a:ext cx="210312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60520" y="25146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292608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Rathaus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011680" y="2980944"/>
            <a:ext cx="210312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60520" y="292608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333756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Langstrasse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011680" y="3392424"/>
            <a:ext cx="208026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37660" y="333756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91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37490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011680" y="3803904"/>
            <a:ext cx="208026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37660" y="374904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91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17720" y="1508760"/>
            <a:ext cx="41148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17720" y="1508760"/>
            <a:ext cx="411480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16459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Flop 5 Quartiere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800600" y="21031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Leimbach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172200" y="2157984"/>
            <a:ext cx="20574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23660" y="210312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00600" y="251460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Witikon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172200" y="2569464"/>
            <a:ext cx="22860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46520" y="25146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800600" y="292608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Hirzenbach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172200" y="2980944"/>
            <a:ext cx="43434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52260" y="292608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800600" y="333756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Affoltern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172200" y="3392424"/>
            <a:ext cx="43434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52260" y="333756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800600" y="37490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Friesenberg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172200" y="3803904"/>
            <a:ext cx="43434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52260" y="374904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Score-Mittelwert je Quartier · Gesamt-Range 9 – 92 · n = 34 (alle offiziellen Quartiere)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20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6/6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Quartier-Typologie via K-Means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der 34 Quartiere auf den </a:t>
            </a:r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sechs Kategorie-Erreichbarkeiten</a:t>
            </a:r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(statt nur Total-Score) ergibt eine vier-typische Zürcher Quartier-Landschaft: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2057400"/>
            <a:ext cx="40233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2057400"/>
            <a:ext cx="4023360" cy="54864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2194560"/>
            <a:ext cx="640080" cy="29260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219456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 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325880" y="217627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Zentrale Mischung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703320" y="217627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⌀ 90  ·  n = 7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256032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Lindenhof · Werd · Rathaus · Langstrasse · City · Hochschulen · Gewerbeschule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94360" y="292608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sechs Funktionen in Walking-Distanz.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63440" y="2057400"/>
            <a:ext cx="40233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2057400"/>
            <a:ext cx="402336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00600" y="2194560"/>
            <a:ext cx="640080" cy="29260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0600" y="219456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 B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532120" y="217627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Mittelband mit ÖV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909560" y="217627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⌀ 59  ·  n = 9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256032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Sihlfeld · Hard · Oerlikon · Alt-Wiedikon · Unterstrass · Mühlebach · Escher Wyss · Enge · Wipkingen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800600" y="292608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Wohnviertel mit guter Tram-/Bus-Anbindung.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383280"/>
            <a:ext cx="40233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3383280"/>
            <a:ext cx="402336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3520440"/>
            <a:ext cx="640080" cy="2926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352044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 C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325880" y="35021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Stadtnord-Rand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3703320" y="350215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⌀ 29  ·  n = 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94360" y="38862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Saatlen · Seebach · Schwamendingen-Mitte · Friesenberg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94360" y="425196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Erholung-positiv, alle anderen Funktionen tief.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63440" y="3383280"/>
            <a:ext cx="40233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63440" y="338328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00600" y="3520440"/>
            <a:ext cx="640080" cy="29260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352044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 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532120" y="35021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Periphere Wohnviertel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909560" y="350215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⌀ 23  ·  n = 14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800600" y="38862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Hottingen · Witikon · Leimbach · Affoltern · Hirzenbach · u. a.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800600" y="425196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Funktionen unterdurchschnittlich.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(k=4) auf 6 standardisierten Kategorie-Accessibilities · sklearn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20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DISKUSSION · 1/2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Antwort auf die Forschungsfrage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82296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08760"/>
            <a:ext cx="82296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9164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grössten Lücken zwischen Wohnen und täglicher Infrastruktur </a:t>
            </a:r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liegen in der Stadtperipherie</a:t>
            </a:r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(Leimbach, Witikon, Hirzenbach, Affoltern, Friesenberg) — über 80 Score-Punkte Abstand zum Zentrum. Die Korrelation Score × Distanz zum HB beträgt </a:t>
            </a:r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ρ = −0.81 (p &lt; 10⁻⁸)</a:t>
            </a:r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Zentralität ist der dominante Treiber. Multi-Variate-Modell erklärt 91 % der Score-Varianz.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971800"/>
            <a:ext cx="260604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971800"/>
            <a:ext cx="260604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1089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Stadtplanung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456432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Versorgungs-Auflagen für Entwicklungsgebiete vor der Erstvermietung.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46120" y="2971800"/>
            <a:ext cx="260604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46120" y="2971800"/>
            <a:ext cx="260604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31089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Investoren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29000" y="3456432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Lagen mit Score &lt; 40 sind preislich Chance, bergen aber Vermarktungsrisiko.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35040" y="2971800"/>
            <a:ext cx="260604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35040" y="2971800"/>
            <a:ext cx="260604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0" y="31089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Einzelhandel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217920" y="3456432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Wüsten-Quartiere = priorisierte Standorte für Nahversorger-Expansion.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20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DISKUSSION · 2/2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Robustness Check — Modell hält stand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493776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08760"/>
            <a:ext cx="493776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459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Multi-Variate-Regression  (n = 34, R² = 0.91)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Prädiktor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94560" y="205740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bivar. 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63240" y="205740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partiell β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931920" y="20574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p-Wert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846320" y="20574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Status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42316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Distanz HB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194560" y="242316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−0.84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063240" y="242316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−9.52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931920" y="242316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&lt;10⁻⁶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846320" y="24231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9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***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0080" y="280720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Höhe (SwissALTI3D)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194560" y="280720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−0.60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063240" y="280720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−0.107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931920" y="280720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&lt;10⁻³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846320" y="280720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9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***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0080" y="3191256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POI-Dichte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194560" y="3191256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+0.86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063240" y="3191256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+0.069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931920" y="3191256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&lt;10⁻⁴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846320" y="319125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***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0080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Signifikanz-Codes:  *** p&lt;0.001 · ** p&lt;0.01 · * p&lt;0.05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0" y="1508760"/>
            <a:ext cx="32004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486400" y="1508760"/>
            <a:ext cx="32004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0" y="16459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 das bedeutet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669280" y="2057400"/>
            <a:ext cx="29260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H1a robust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Distanz HB hochsignifikant nach Kontrolle (β = −9.52).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Topografie ist Co-Treiber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SwissALTI3D-Höhen: höher = niedrigerer Score (β = −0.107).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Gewichts-robust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Spearman ρ &gt; 0.98 in allen Szenarien.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Distanz-Approximation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Luftlinie vs. Strassennetz: r = 0.991.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OLS-Regression mit statsmodels · Daten: reports/robustness_data.csv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20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SCHLUSS · 1/2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Limitationen unseres Modells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1907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Datenqualität OSM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Kleine, unmappte Geschäfte fehlen. Annahme: Verzerrung gering, weil Geschäfte ähnlicher Klassifikation OSM-mässig konsistent sind.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55448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155448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71907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Tobler-Modell-Annahme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21031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Tobler-Hiking-Funktion ist auf Wandern in offenem Gelände kalibriert (Tobler 1993), nicht auf städtisches Gehen mit Ampeln und Querstrassen. Der relative Unterschied flat vs. topografisch (Slide 13) bleibt aber aussagekräftig.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06324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306324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2278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Single-City-Befund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36118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H2-Falsifikation (keine Wüsten) gilt für Zürich; die 15-Min-Stadt-Methodik ist nicht stadt-spezifisch und sollte für externe Validität auf weitere Städte angewendet werden.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63440" y="306324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306324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32278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Mietpreis-Confounder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46320" y="36118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Premium-Wohnlagen wie Hottingen, Seefeld zeigen hohe Mieten trotz niedrigerer Score-Werte — andere Form von Lagequalität (ruhig, grün) als unsere fussläufige Mischnutzungs-Definition.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20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SCHLUSS · 2/2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Ausblick &amp; take-away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17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14173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DEM-basierte Topografie + Multi-Variate-Regression mit ÖV-Anbindung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874520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18745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Echtzeit-Mobilitätsdaten — SBB GTFS, ZVV-Reisezeiten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331720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331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23317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Dynamisches Re-Scoring bei neuem POI (QGIS-Live-Demo)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2788920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788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27889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Erweiterung auf Winterthur, Basel — nationaler Vergleich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657600"/>
            <a:ext cx="128016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Vielen Dank — Fragen &amp; Diskussion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· github.com/sanirmem/zh15min   ·   Live-Demo: docker compose up -d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OpenStreetMap-Mitwirkende · Stadt Zürich · BFS · swisstopo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15-Minute City Intelligence — Zürich</dc:title>
  <dc:subject>PptxGenJS Presentation</dc:subject>
  <dc:creator>Gruppe 15-Min City Intelligence — ZHAW FS2026</dc:creator>
  <cp:lastModifiedBy>Gruppe 15-Min City Intelligence — ZHAW FS2026</cp:lastModifiedBy>
  <cp:revision>1</cp:revision>
  <dcterms:created xsi:type="dcterms:W3CDTF">2026-05-23T08:28:40Z</dcterms:created>
  <dcterms:modified xsi:type="dcterms:W3CDTF">2026-05-23T08:28:40Z</dcterms:modified>
</cp:coreProperties>
</file>